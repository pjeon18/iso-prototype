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ISO is a dating app built around one enforced constraint: you can have exactly one live conversation at a time. This deck walks the product and the thinking.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category's symptoms — rosters, ghosting, burnout — are downstream of a business model that sells optionality. That's the opening.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whole product in one sentence. The screenshot is the home screen: a live count and a single CTA — there is nothing to browse.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screens, one loop. Liquidity is concentrated with prime-time queue windows on a single campus at launch.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timer was the riskiest design element — it must create presence without feeling like a countdown bomb. Zero-penalty expiry, second-lapse framing.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scariest moment in any dating product is the decision. The simultaneous sealed reveal removes rejection asymmetry entirely.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outcome loop is self-reported and private. It's the truth signal for everything else — the trend, the recap, revival eligibility.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reflective surface was designed so it structurally cannot become a roster: read-only, single-slot, blind, decaying.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motion system is tokenized — four named springs, five wave registers — so the app feels crafted, not generated. Full rationale lives in the design document.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Links resolve once the repo is public: the live demo deploys via GitHub Pages from the same repository.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auljeon/Downloads/assets/iso-prototype/slides/assets/iso-mark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3128" y="1554480"/>
            <a:ext cx="3255264" cy="18745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423160" y="36576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 time for a </a:t>
            </a:r>
            <a:pPr algn="ctr" indent="0" marL="0">
              <a:buNone/>
            </a:pPr>
            <a:r>
              <a:rPr lang="en-US" sz="2400" b="1" dirty="0">
                <a:solidFill>
                  <a:srgbClr val="27E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</a:t>
            </a:r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one-on-one.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2423160" y="43434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A3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— Intimate Setting Online · an interactive product prototype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2423160" y="6172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conversation at a time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spc="-50" kern="0" dirty="0">
                <a:solidFill>
                  <a:srgbClr val="3A2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Dating apps monetize attention — not connection.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685800" y="1600200"/>
            <a:ext cx="557784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5A3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Swipe economics reward infinite options: more matches, more boosts, more time in-app.</a:t>
            </a:r>
            <a:endParaRPr lang="en-US" sz="17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5A3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end up managing a roster of lukewarm “talking stages” — a part-time job nobody signed up for.</a:t>
            </a:r>
            <a:endParaRPr lang="en-US" sz="17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5A3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Ghosting is normalized. Everyone feels disposable. Burnout drives people off the apps entirely.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5A3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incumbent business model can't fix this — optionality is the revenue.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720840" y="1417320"/>
            <a:ext cx="4754880" cy="1371600"/>
          </a:xfrm>
          <a:prstGeom prst="roundRect">
            <a:avLst>
              <a:gd name="adj" fmla="val 8000"/>
            </a:avLst>
          </a:prstGeom>
          <a:solidFill>
            <a:srgbClr val="FFF9F0"/>
          </a:solidFill>
          <a:ln w="12700">
            <a:solidFill>
              <a:srgbClr val="EFE3D0"/>
            </a:solidFill>
            <a:prstDash val="solid"/>
          </a:ln>
          <a:effectLst>
            <a:outerShdw sx="100000" sy="100000" kx="0" ky="0" algn="bl" rotWithShape="0" blurRad="177800" dist="63500" dir="5400000">
              <a:srgbClr val="5A3418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949440" y="1581912"/>
            <a:ext cx="1691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79%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686800" y="1581912"/>
            <a:ext cx="2697480" cy="1042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4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U.S. college students aren't on any dating app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720840" y="2990088"/>
            <a:ext cx="4754880" cy="1371600"/>
          </a:xfrm>
          <a:prstGeom prst="roundRect">
            <a:avLst>
              <a:gd name="adj" fmla="val 8000"/>
            </a:avLst>
          </a:prstGeom>
          <a:solidFill>
            <a:srgbClr val="FFF9F0"/>
          </a:solidFill>
          <a:ln w="12700">
            <a:solidFill>
              <a:srgbClr val="EFE3D0"/>
            </a:solidFill>
            <a:prstDash val="solid"/>
          </a:ln>
          <a:effectLst>
            <a:outerShdw sx="100000" sy="100000" kx="0" ky="0" algn="bl" rotWithShape="0" blurRad="177800" dist="63500" dir="5400000">
              <a:srgbClr val="5A3418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949440" y="3154680"/>
            <a:ext cx="1691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50%+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8686800" y="3154680"/>
            <a:ext cx="2697480" cy="1042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4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Gen Z feel burned out by dating apps — the highest of any age group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720840" y="4562856"/>
            <a:ext cx="4754880" cy="1371600"/>
          </a:xfrm>
          <a:prstGeom prst="roundRect">
            <a:avLst>
              <a:gd name="adj" fmla="val 8000"/>
            </a:avLst>
          </a:prstGeom>
          <a:solidFill>
            <a:srgbClr val="FFF9F0"/>
          </a:solidFill>
          <a:ln w="12700">
            <a:solidFill>
              <a:srgbClr val="EFE3D0"/>
            </a:solidFill>
            <a:prstDash val="solid"/>
          </a:ln>
          <a:effectLst>
            <a:outerShdw sx="100000" sy="100000" kx="0" ky="0" algn="bl" rotWithShape="0" blurRad="177800" dist="63500" dir="5400000">
              <a:srgbClr val="5A3418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949440" y="4727448"/>
            <a:ext cx="1691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~90%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8686800" y="4727448"/>
            <a:ext cx="2697480" cy="1042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4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Gen Z say they'd rather meet someone offline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720840" y="626364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98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Axios · Forbes Health 2025 · Kinsey / DatingAdvice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51560"/>
            <a:ext cx="6675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A2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conversation at a time.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85800" y="1783080"/>
            <a:ext cx="6675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Enforced.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13232" y="2880360"/>
            <a:ext cx="64922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5A3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 like joining a game. Get matched live with one present person. Talk in a real-time room.</a:t>
            </a:r>
            <a:endParaRPr lang="en-US" sz="17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5A3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only continues if both of you say yes — otherwise it closes kindly and you're back in the queue.</a:t>
            </a:r>
            <a:endParaRPr lang="en-US" sz="17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5A3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Exclusivity is a mechanic, not a promise: with an active chat you literally cannot queue for another.</a:t>
            </a:r>
            <a:endParaRPr lang="en-US" sz="17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700" b="1" dirty="0">
                <a:solidFill>
                  <a:srgbClr val="3A2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inbox. No roster. No feed. Three tabs, forever.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549640" y="640080"/>
            <a:ext cx="2577438" cy="5577840"/>
          </a:xfrm>
          <a:prstGeom prst="roundRect">
            <a:avLst>
              <a:gd name="adj" fmla="val 3193"/>
            </a:avLst>
          </a:prstGeom>
          <a:solidFill>
            <a:srgbClr val="FFFFFF"/>
          </a:solidFill>
          <a:ln w="12700">
            <a:solidFill>
              <a:srgbClr val="E8DCC9"/>
            </a:solidFill>
            <a:prstDash val="solid"/>
          </a:ln>
          <a:effectLst>
            <a:outerShdw sx="100000" sy="100000" kx="0" ky="0" algn="bl" rotWithShape="0" blurRad="177800" dist="63500" dir="5400000">
              <a:srgbClr val="5A3418">
                <a:alpha val="28000"/>
              </a:srgbClr>
            </a:outerShdw>
          </a:effectLst>
        </p:spPr>
      </p:sp>
      <p:pic>
        <p:nvPicPr>
          <p:cNvPr id="6" name="Image 0" descr="/Users/pauljeon/Downloads/assets/iso-prototype/slides/shots/02-queue-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0788" y="681228"/>
            <a:ext cx="2495142" cy="549554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9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spc="-50" kern="0" dirty="0">
                <a:solidFill>
                  <a:srgbClr val="3A2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loop: show up → meet → talk → decide together</a:t>
            </a:r>
            <a:endParaRPr lang="en-US" sz="3300" dirty="0"/>
          </a:p>
        </p:txBody>
      </p:sp>
      <p:sp>
        <p:nvSpPr>
          <p:cNvPr id="3" name="Shape 1"/>
          <p:cNvSpPr/>
          <p:nvPr/>
        </p:nvSpPr>
        <p:spPr>
          <a:xfrm>
            <a:off x="978278" y="1554480"/>
            <a:ext cx="1838009" cy="3977640"/>
          </a:xfrm>
          <a:prstGeom prst="roundRect">
            <a:avLst>
              <a:gd name="adj" fmla="val 4477"/>
            </a:avLst>
          </a:prstGeom>
          <a:solidFill>
            <a:srgbClr val="FFFFFF"/>
          </a:solidFill>
          <a:ln w="12700">
            <a:solidFill>
              <a:srgbClr val="E8DCC9"/>
            </a:solidFill>
            <a:prstDash val="solid"/>
          </a:ln>
          <a:effectLst>
            <a:outerShdw sx="100000" sy="100000" kx="0" ky="0" algn="bl" rotWithShape="0" blurRad="177800" dist="63500" dir="5400000">
              <a:srgbClr val="5A3418">
                <a:alpha val="28000"/>
              </a:srgbClr>
            </a:outerShdw>
          </a:effectLst>
        </p:spPr>
      </p:sp>
      <p:pic>
        <p:nvPicPr>
          <p:cNvPr id="4" name="Image 0" descr="/Users/pauljeon/Downloads/assets/iso-prototype/slides/shots/03-search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9426" y="1595628"/>
            <a:ext cx="1755713" cy="389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75358" y="5605272"/>
            <a:ext cx="2843849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4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 up — matched with someone who's here right now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2944303" y="3108960"/>
            <a:ext cx="7040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8B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3776407" y="1554480"/>
            <a:ext cx="1838009" cy="3977640"/>
          </a:xfrm>
          <a:prstGeom prst="roundRect">
            <a:avLst>
              <a:gd name="adj" fmla="val 4477"/>
            </a:avLst>
          </a:prstGeom>
          <a:solidFill>
            <a:srgbClr val="FFFFFF"/>
          </a:solidFill>
          <a:ln w="12700">
            <a:solidFill>
              <a:srgbClr val="E8DCC9"/>
            </a:solidFill>
            <a:prstDash val="solid"/>
          </a:ln>
          <a:effectLst>
            <a:outerShdw sx="100000" sy="100000" kx="0" ky="0" algn="bl" rotWithShape="0" blurRad="177800" dist="63500" dir="5400000">
              <a:srgbClr val="5A3418">
                <a:alpha val="28000"/>
              </a:srgbClr>
            </a:outerShdw>
          </a:effectLst>
        </p:spPr>
      </p:sp>
      <p:pic>
        <p:nvPicPr>
          <p:cNvPr id="8" name="Image 1" descr="/Users/pauljeon/Downloads/assets/iso-prototype/slides/shots/04-match-fou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7555" y="1595628"/>
            <a:ext cx="1755713" cy="38953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273487" y="5605272"/>
            <a:ext cx="2843849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4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match, live — with a shared ice-breaker</a:t>
            </a:r>
            <a:endParaRPr lang="en-US" sz="1250" dirty="0"/>
          </a:p>
        </p:txBody>
      </p:sp>
      <p:sp>
        <p:nvSpPr>
          <p:cNvPr id="10" name="Text 6"/>
          <p:cNvSpPr/>
          <p:nvPr/>
        </p:nvSpPr>
        <p:spPr>
          <a:xfrm>
            <a:off x="5742432" y="3108960"/>
            <a:ext cx="7040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8B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000" dirty="0"/>
          </a:p>
        </p:txBody>
      </p:sp>
      <p:sp>
        <p:nvSpPr>
          <p:cNvPr id="11" name="Shape 7"/>
          <p:cNvSpPr/>
          <p:nvPr/>
        </p:nvSpPr>
        <p:spPr>
          <a:xfrm>
            <a:off x="6574536" y="1554480"/>
            <a:ext cx="1838009" cy="3977640"/>
          </a:xfrm>
          <a:prstGeom prst="roundRect">
            <a:avLst>
              <a:gd name="adj" fmla="val 4477"/>
            </a:avLst>
          </a:prstGeom>
          <a:solidFill>
            <a:srgbClr val="FFFFFF"/>
          </a:solidFill>
          <a:ln w="12700">
            <a:solidFill>
              <a:srgbClr val="E8DCC9"/>
            </a:solidFill>
            <a:prstDash val="solid"/>
          </a:ln>
          <a:effectLst>
            <a:outerShdw sx="100000" sy="100000" kx="0" ky="0" algn="bl" rotWithShape="0" blurRad="177800" dist="63500" dir="5400000">
              <a:srgbClr val="5A3418">
                <a:alpha val="28000"/>
              </a:srgbClr>
            </a:outerShdw>
          </a:effectLst>
        </p:spPr>
      </p:sp>
      <p:pic>
        <p:nvPicPr>
          <p:cNvPr id="12" name="Image 2" descr="/Users/pauljeon/Downloads/assets/iso-prototype/slides/shots/05-live-roo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5684" y="1595628"/>
            <a:ext cx="1755713" cy="389534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071616" y="5605272"/>
            <a:ext cx="2843849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4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real-time room with a gentle reply timer</a:t>
            </a:r>
            <a:endParaRPr lang="en-US" sz="1250" dirty="0"/>
          </a:p>
        </p:txBody>
      </p:sp>
      <p:sp>
        <p:nvSpPr>
          <p:cNvPr id="14" name="Text 9"/>
          <p:cNvSpPr/>
          <p:nvPr/>
        </p:nvSpPr>
        <p:spPr>
          <a:xfrm>
            <a:off x="8540561" y="3108960"/>
            <a:ext cx="7040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8B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000" dirty="0"/>
          </a:p>
        </p:txBody>
      </p:sp>
      <p:sp>
        <p:nvSpPr>
          <p:cNvPr id="15" name="Shape 10"/>
          <p:cNvSpPr/>
          <p:nvPr/>
        </p:nvSpPr>
        <p:spPr>
          <a:xfrm>
            <a:off x="9372665" y="1554480"/>
            <a:ext cx="1838009" cy="3977640"/>
          </a:xfrm>
          <a:prstGeom prst="roundRect">
            <a:avLst>
              <a:gd name="adj" fmla="val 4477"/>
            </a:avLst>
          </a:prstGeom>
          <a:solidFill>
            <a:srgbClr val="FFFFFF"/>
          </a:solidFill>
          <a:ln w="12700">
            <a:solidFill>
              <a:srgbClr val="E8DCC9"/>
            </a:solidFill>
            <a:prstDash val="solid"/>
          </a:ln>
          <a:effectLst>
            <a:outerShdw sx="100000" sy="100000" kx="0" ky="0" algn="bl" rotWithShape="0" blurRad="177800" dist="63500" dir="5400000">
              <a:srgbClr val="5A3418">
                <a:alpha val="28000"/>
              </a:srgbClr>
            </a:outerShdw>
          </a:effectLst>
        </p:spPr>
      </p:sp>
      <p:pic>
        <p:nvPicPr>
          <p:cNvPr id="16" name="Image 3" descr="/Users/pauljeon/Downloads/assets/iso-prototype/slides/shots/07-keep-talking-mutu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3813" y="1595628"/>
            <a:ext cx="1755713" cy="3895344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8869745" y="5605272"/>
            <a:ext cx="2843849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4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continues only if you both say yes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594360"/>
            <a:ext cx="2619691" cy="5669280"/>
          </a:xfrm>
          <a:prstGeom prst="roundRect">
            <a:avLst>
              <a:gd name="adj" fmla="val 3141"/>
            </a:avLst>
          </a:prstGeom>
          <a:solidFill>
            <a:srgbClr val="FFFFFF"/>
          </a:solidFill>
          <a:ln w="12700">
            <a:solidFill>
              <a:srgbClr val="E8DCC9"/>
            </a:solidFill>
            <a:prstDash val="solid"/>
          </a:ln>
          <a:effectLst>
            <a:outerShdw sx="100000" sy="100000" kx="0" ky="0" algn="bl" rotWithShape="0" blurRad="177800" dist="63500" dir="5400000">
              <a:srgbClr val="5A3418">
                <a:alpha val="28000"/>
              </a:srgbClr>
            </a:outerShdw>
          </a:effectLst>
        </p:spPr>
      </p:sp>
      <p:pic>
        <p:nvPicPr>
          <p:cNvPr id="3" name="Image 0" descr="/Users/pauljeon/Downloads/assets/iso-prototype/slides/shots/05-live-roo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8388" y="635508"/>
            <a:ext cx="2537395" cy="55869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206240" y="685800"/>
            <a:ext cx="7315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3A2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Presence, not pressure</a:t>
            </a:r>
            <a:endParaRPr lang="en-US" sz="3300" dirty="0"/>
          </a:p>
        </p:txBody>
      </p:sp>
      <p:sp>
        <p:nvSpPr>
          <p:cNvPr id="5" name="Shape 2"/>
          <p:cNvSpPr/>
          <p:nvPr/>
        </p:nvSpPr>
        <p:spPr>
          <a:xfrm>
            <a:off x="4206240" y="1600200"/>
            <a:ext cx="7315200" cy="1005840"/>
          </a:xfrm>
          <a:prstGeom prst="roundRect">
            <a:avLst>
              <a:gd name="adj" fmla="val 9091"/>
            </a:avLst>
          </a:prstGeom>
          <a:solidFill>
            <a:srgbClr val="FFF9F0"/>
          </a:solidFill>
          <a:ln w="12700">
            <a:solidFill>
              <a:srgbClr val="EFE3D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434840" y="1709928"/>
            <a:ext cx="6858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A2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shared ice-breaker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4434840" y="2020824"/>
            <a:ext cx="6903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4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people arrive holding the same opener — no “who talks first” freeze, no “hey.”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206240" y="2770632"/>
            <a:ext cx="7315200" cy="1005840"/>
          </a:xfrm>
          <a:prstGeom prst="roundRect">
            <a:avLst>
              <a:gd name="adj" fmla="val 9091"/>
            </a:avLst>
          </a:prstGeom>
          <a:solidFill>
            <a:srgbClr val="FFE8C1"/>
          </a:solidFill>
          <a:ln w="12700">
            <a:solidFill>
              <a:srgbClr val="EFE3D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434840" y="2880360"/>
            <a:ext cx="6858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A2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gentle reply timer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4434840" y="3191256"/>
            <a:ext cx="6903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4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calm amber bar labeled “presence, not pressure.” At zero, nothing bad happens — just a soft “still there?”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206240" y="3941064"/>
            <a:ext cx="7315200" cy="1005840"/>
          </a:xfrm>
          <a:prstGeom prst="roundRect">
            <a:avLst>
              <a:gd name="adj" fmla="val 9091"/>
            </a:avLst>
          </a:prstGeom>
          <a:solidFill>
            <a:srgbClr val="FFF9F0"/>
          </a:solidFill>
          <a:ln w="12700">
            <a:solidFill>
              <a:srgbClr val="EFE3D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434840" y="4050792"/>
            <a:ext cx="6858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A2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Silence is read kindly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4434840" y="4361688"/>
            <a:ext cx="6903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4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second lapse suggests deciding: “seems like a natural pause.” Never a penalty, never an abrupt kill.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4206240" y="5111496"/>
            <a:ext cx="7315200" cy="1005840"/>
          </a:xfrm>
          <a:prstGeom prst="roundRect">
            <a:avLst>
              <a:gd name="adj" fmla="val 9091"/>
            </a:avLst>
          </a:prstGeom>
          <a:solidFill>
            <a:srgbClr val="FFF9F0"/>
          </a:solidFill>
          <a:ln w="12700">
            <a:solidFill>
              <a:srgbClr val="EFE3D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434840" y="5221224"/>
            <a:ext cx="6858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A2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Either side can decide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34840" y="5532120"/>
            <a:ext cx="6903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4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quiet “feeling ready to decide?” link ends the ambiguity without an eject button.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spc="-50" kern="0" dirty="0">
                <a:solidFill>
                  <a:srgbClr val="3A2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ever answers second.</a:t>
            </a:r>
            <a:endParaRPr lang="en-US" sz="3300" dirty="0"/>
          </a:p>
        </p:txBody>
      </p:sp>
      <p:sp>
        <p:nvSpPr>
          <p:cNvPr id="3" name="Shape 1"/>
          <p:cNvSpPr/>
          <p:nvPr/>
        </p:nvSpPr>
        <p:spPr>
          <a:xfrm>
            <a:off x="6400800" y="1417320"/>
            <a:ext cx="2176034" cy="4709160"/>
          </a:xfrm>
          <a:prstGeom prst="roundRect">
            <a:avLst>
              <a:gd name="adj" fmla="val 3782"/>
            </a:avLst>
          </a:prstGeom>
          <a:solidFill>
            <a:srgbClr val="FFFFFF"/>
          </a:solidFill>
          <a:ln w="12700">
            <a:solidFill>
              <a:srgbClr val="E8DCC9"/>
            </a:solidFill>
            <a:prstDash val="solid"/>
          </a:ln>
          <a:effectLst>
            <a:outerShdw sx="100000" sy="100000" kx="0" ky="0" algn="bl" rotWithShape="0" blurRad="177800" dist="63500" dir="5400000">
              <a:srgbClr val="5A3418">
                <a:alpha val="28000"/>
              </a:srgbClr>
            </a:outerShdw>
          </a:effectLst>
        </p:spPr>
      </p:sp>
      <p:pic>
        <p:nvPicPr>
          <p:cNvPr id="4" name="Image 0" descr="/Users/pauljeon/Downloads/assets/iso-prototype/slides/shots/06-keep-talking-as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1948" y="1458468"/>
            <a:ext cx="2093738" cy="46268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897880" y="6199632"/>
            <a:ext cx="3181874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4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stay sealed…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9281160" y="1417320"/>
            <a:ext cx="2176034" cy="4709160"/>
          </a:xfrm>
          <a:prstGeom prst="roundRect">
            <a:avLst>
              <a:gd name="adj" fmla="val 3782"/>
            </a:avLst>
          </a:prstGeom>
          <a:solidFill>
            <a:srgbClr val="FFFFFF"/>
          </a:solidFill>
          <a:ln w="12700">
            <a:solidFill>
              <a:srgbClr val="E8DCC9"/>
            </a:solidFill>
            <a:prstDash val="solid"/>
          </a:ln>
          <a:effectLst>
            <a:outerShdw sx="100000" sy="100000" kx="0" ky="0" algn="bl" rotWithShape="0" blurRad="177800" dist="63500" dir="5400000">
              <a:srgbClr val="5A3418">
                <a:alpha val="28000"/>
              </a:srgbClr>
            </a:outerShdw>
          </a:effectLst>
        </p:spPr>
      </p:sp>
      <p:pic>
        <p:nvPicPr>
          <p:cNvPr id="7" name="Image 1" descr="/Users/pauljeon/Downloads/assets/iso-prototype/slides/shots/07-keep-talking-mutu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2308" y="1458468"/>
            <a:ext cx="2093738" cy="462686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778240" y="6199632"/>
            <a:ext cx="3181874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4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…and reveal together.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685800" y="1600200"/>
            <a:ext cx="530352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50" dirty="0">
                <a:solidFill>
                  <a:srgbClr val="5A3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conversation reaches a natural point, both people privately answer one question: keep talking?</a:t>
            </a:r>
            <a:endParaRPr lang="en-US" sz="16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50" dirty="0">
                <a:solidFill>
                  <a:srgbClr val="5A3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are sealed until both have committed, then revealed simultaneously — nobody performs for the other's visible choice, nobody is rejected in public.</a:t>
            </a:r>
            <a:endParaRPr lang="en-US" sz="16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50" dirty="0">
                <a:solidFill>
                  <a:srgbClr val="5A3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Mutual yes → it becomes your one ongoing chat, marked with a restrained green moment.</a:t>
            </a:r>
            <a:endParaRPr lang="en-US" sz="16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50" dirty="0">
                <a:solidFill>
                  <a:srgbClr val="5A3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else → “closed kindly, nothing left behind.” No dead thread. Back to the queue, one tap.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spc="-50" kern="0" dirty="0">
                <a:solidFill>
                  <a:srgbClr val="3A2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Then: one chat, your whole attention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685800" y="1554480"/>
            <a:ext cx="594360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50" dirty="0">
                <a:solidFill>
                  <a:srgbClr val="5A3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Chat tab holds exactly one connection — full-screen attention on a single person is the product's whole competitive position, rendered literally.</a:t>
            </a:r>
            <a:endParaRPr lang="en-US" sz="16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50" dirty="0">
                <a:solidFill>
                  <a:srgbClr val="5A3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 someone new? You end this one first — visibly, deliberately, kindly. The lock is part of the interface.</a:t>
            </a:r>
            <a:endParaRPr lang="en-US" sz="16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50" dirty="0">
                <a:solidFill>
                  <a:srgbClr val="5A3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ISO+ adds momentum tools inside the chat: song requests, photo-of-the-day, a date planner. All pointed off the app.</a:t>
            </a:r>
            <a:endParaRPr lang="en-US" sz="1650" dirty="0"/>
          </a:p>
        </p:txBody>
      </p:sp>
      <p:sp>
        <p:nvSpPr>
          <p:cNvPr id="4" name="Shape 2"/>
          <p:cNvSpPr/>
          <p:nvPr/>
        </p:nvSpPr>
        <p:spPr>
          <a:xfrm>
            <a:off x="685800" y="4434840"/>
            <a:ext cx="5943600" cy="1691640"/>
          </a:xfrm>
          <a:prstGeom prst="roundRect">
            <a:avLst>
              <a:gd name="adj" fmla="val 6486"/>
            </a:avLst>
          </a:prstGeom>
          <a:solidFill>
            <a:srgbClr val="EAF7EF"/>
          </a:solidFill>
          <a:ln w="12700">
            <a:solidFill>
              <a:srgbClr val="BFE5CD"/>
            </a:solidFill>
            <a:prstDash val="solid"/>
          </a:ln>
          <a:effectLst>
            <a:outerShdw sx="100000" sy="100000" kx="0" ky="0" algn="bl" rotWithShape="0" blurRad="177800" dist="63500" dir="5400000">
              <a:srgbClr val="5A3418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4617720"/>
            <a:ext cx="53949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FA3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metric that matters: “Did you two meet up?”</a:t>
            </a:r>
            <a:endParaRPr lang="en-US" sz="1600" dirty="0"/>
          </a:p>
          <a:p>
            <a:pPr indent="0" marL="0">
              <a:buNone/>
            </a:pPr>
            <a:r>
              <a:rPr lang="en-US" sz="1350" dirty="0">
                <a:solidFill>
                  <a:srgbClr val="5A3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ISO's North Star is real-life dates initiated — asked once, privately, never nagged. We win when two people leave the app together.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595360" y="640080"/>
            <a:ext cx="2577438" cy="5577840"/>
          </a:xfrm>
          <a:prstGeom prst="roundRect">
            <a:avLst>
              <a:gd name="adj" fmla="val 3193"/>
            </a:avLst>
          </a:prstGeom>
          <a:solidFill>
            <a:srgbClr val="FFFFFF"/>
          </a:solidFill>
          <a:ln w="12700">
            <a:solidFill>
              <a:srgbClr val="E8DCC9"/>
            </a:solidFill>
            <a:prstDash val="solid"/>
          </a:ln>
          <a:effectLst>
            <a:outerShdw sx="100000" sy="100000" kx="0" ky="0" algn="bl" rotWithShape="0" blurRad="177800" dist="63500" dir="5400000">
              <a:srgbClr val="5A3418">
                <a:alpha val="28000"/>
              </a:srgbClr>
            </a:outerShdw>
          </a:effectLst>
        </p:spPr>
      </p:sp>
      <p:pic>
        <p:nvPicPr>
          <p:cNvPr id="7" name="Image 0" descr="/Users/pauljeon/Downloads/assets/iso-prototype/slides/shots/08-one-c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6508" y="681228"/>
            <a:ext cx="2495142" cy="549554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9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spc="-50" kern="0" dirty="0">
                <a:solidFill>
                  <a:srgbClr val="3A2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Remember it — without rebuilding the roster</a:t>
            </a:r>
            <a:endParaRPr lang="en-US" sz="3300" dirty="0"/>
          </a:p>
        </p:txBody>
      </p:sp>
      <p:sp>
        <p:nvSpPr>
          <p:cNvPr id="3" name="Shape 1"/>
          <p:cNvSpPr/>
          <p:nvPr/>
        </p:nvSpPr>
        <p:spPr>
          <a:xfrm>
            <a:off x="1363214" y="1463040"/>
            <a:ext cx="1690123" cy="3657600"/>
          </a:xfrm>
          <a:prstGeom prst="roundRect">
            <a:avLst>
              <a:gd name="adj" fmla="val 4869"/>
            </a:avLst>
          </a:prstGeom>
          <a:solidFill>
            <a:srgbClr val="FFFFFF"/>
          </a:solidFill>
          <a:ln w="12700">
            <a:solidFill>
              <a:srgbClr val="E8DCC9"/>
            </a:solidFill>
            <a:prstDash val="solid"/>
          </a:ln>
          <a:effectLst>
            <a:outerShdw sx="100000" sy="100000" kx="0" ky="0" algn="bl" rotWithShape="0" blurRad="177800" dist="63500" dir="5400000">
              <a:srgbClr val="5A3418">
                <a:alpha val="28000"/>
              </a:srgbClr>
            </a:outerShdw>
          </a:effectLst>
        </p:spPr>
      </p:sp>
      <p:pic>
        <p:nvPicPr>
          <p:cNvPr id="4" name="Image 0" descr="/Users/pauljeon/Downloads/assets/iso-prototype/slides/shots/10-memor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04362" y="1504188"/>
            <a:ext cx="1607827" cy="357530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25196" y="5257800"/>
            <a:ext cx="3566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3A2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Memories</a:t>
            </a:r>
            <a:endParaRPr lang="en-US" sz="1550" dirty="0"/>
          </a:p>
        </p:txBody>
      </p:sp>
      <p:sp>
        <p:nvSpPr>
          <p:cNvPr id="6" name="Text 3"/>
          <p:cNvSpPr/>
          <p:nvPr/>
        </p:nvSpPr>
        <p:spPr>
          <a:xfrm>
            <a:off x="516636" y="5596128"/>
            <a:ext cx="338328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4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read-only private journal of mutual conversations. No reply button exists. No unread counts. Wipe your side anytime.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249414" y="1463040"/>
            <a:ext cx="1690123" cy="3657600"/>
          </a:xfrm>
          <a:prstGeom prst="roundRect">
            <a:avLst>
              <a:gd name="adj" fmla="val 4869"/>
            </a:avLst>
          </a:prstGeom>
          <a:solidFill>
            <a:srgbClr val="FFFFFF"/>
          </a:solidFill>
          <a:ln w="12700">
            <a:solidFill>
              <a:srgbClr val="E8DCC9"/>
            </a:solidFill>
            <a:prstDash val="solid"/>
          </a:ln>
          <a:effectLst>
            <a:outerShdw sx="100000" sy="100000" kx="0" ky="0" algn="bl" rotWithShape="0" blurRad="177800" dist="63500" dir="5400000">
              <a:srgbClr val="5A3418">
                <a:alpha val="28000"/>
              </a:srgbClr>
            </a:outerShdw>
          </a:effectLst>
        </p:spPr>
      </p:sp>
      <p:pic>
        <p:nvPicPr>
          <p:cNvPr id="8" name="Image 1" descr="/Users/pauljeon/Downloads/assets/iso-prototype/slides/shots/11-trend-re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0562" y="1504188"/>
            <a:ext cx="1607827" cy="357530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311396" y="5257800"/>
            <a:ext cx="3566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3A2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trend + weekly recap</a:t>
            </a:r>
            <a:endParaRPr lang="en-US" sz="1550" dirty="0"/>
          </a:p>
        </p:txBody>
      </p:sp>
      <p:sp>
        <p:nvSpPr>
          <p:cNvPr id="10" name="Text 6"/>
          <p:cNvSpPr/>
          <p:nvPr/>
        </p:nvSpPr>
        <p:spPr>
          <a:xfrm>
            <a:off x="4402836" y="5596128"/>
            <a:ext cx="338328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4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gentle, floor-bounded curve of how conversations felt — direction, not scores. It can't crash, and it never ranks people.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9135614" y="1463040"/>
            <a:ext cx="1690123" cy="3657600"/>
          </a:xfrm>
          <a:prstGeom prst="roundRect">
            <a:avLst>
              <a:gd name="adj" fmla="val 4869"/>
            </a:avLst>
          </a:prstGeom>
          <a:solidFill>
            <a:srgbClr val="FFFFFF"/>
          </a:solidFill>
          <a:ln w="12700">
            <a:solidFill>
              <a:srgbClr val="E8DCC9"/>
            </a:solidFill>
            <a:prstDash val="solid"/>
          </a:ln>
          <a:effectLst>
            <a:outerShdw sx="100000" sy="100000" kx="0" ky="0" algn="bl" rotWithShape="0" blurRad="177800" dist="63500" dir="5400000">
              <a:srgbClr val="5A3418">
                <a:alpha val="28000"/>
              </a:srgbClr>
            </a:outerShdw>
          </a:effectLst>
        </p:spPr>
      </p:sp>
      <p:pic>
        <p:nvPicPr>
          <p:cNvPr id="12" name="Image 2" descr="/Users/pauljeon/Downloads/assets/iso-prototype/slides/shots/12-reviv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6762" y="1504188"/>
            <a:ext cx="1607827" cy="357530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8197596" y="5257800"/>
            <a:ext cx="3566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3A2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Revival</a:t>
            </a:r>
            <a:endParaRPr lang="en-US" sz="1550" dirty="0"/>
          </a:p>
        </p:txBody>
      </p:sp>
      <p:sp>
        <p:nvSpPr>
          <p:cNvPr id="14" name="Text 9"/>
          <p:cNvSpPr/>
          <p:nvPr/>
        </p:nvSpPr>
        <p:spPr>
          <a:xfrm>
            <a:off x="8289036" y="5596128"/>
            <a:ext cx="338328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4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private “I'd talk to them again” flag. Blind and double-opt-in: it only surfaces if both flagged, both free. Nobody can be re-rejected.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spc="-50" kern="0" dirty="0">
                <a:solidFill>
                  <a:srgbClr val="3A2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Designed like getting to know someone</a:t>
            </a:r>
            <a:endParaRPr lang="en-US" sz="3300" dirty="0"/>
          </a:p>
        </p:txBody>
      </p:sp>
      <p:sp>
        <p:nvSpPr>
          <p:cNvPr id="3" name="Shape 1"/>
          <p:cNvSpPr/>
          <p:nvPr/>
        </p:nvSpPr>
        <p:spPr>
          <a:xfrm>
            <a:off x="777240" y="1600200"/>
            <a:ext cx="749808" cy="749808"/>
          </a:xfrm>
          <a:prstGeom prst="ellipse">
            <a:avLst/>
          </a:prstGeom>
          <a:solidFill>
            <a:srgbClr val="FF8000"/>
          </a:solidFill>
          <a:ln w="12700">
            <a:solidFill>
              <a:srgbClr val="EFE3D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432304"/>
            <a:ext cx="120700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4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confident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4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orange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1984248" y="1600200"/>
            <a:ext cx="749808" cy="749808"/>
          </a:xfrm>
          <a:prstGeom prst="ellipse">
            <a:avLst/>
          </a:prstGeom>
          <a:solidFill>
            <a:srgbClr val="F8BD62"/>
          </a:solidFill>
          <a:ln w="12700">
            <a:solidFill>
              <a:srgbClr val="EFE3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755648" y="2432304"/>
            <a:ext cx="120700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4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 amber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4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ambience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191256" y="1600200"/>
            <a:ext cx="749808" cy="749808"/>
          </a:xfrm>
          <a:prstGeom prst="ellipse">
            <a:avLst/>
          </a:prstGeom>
          <a:solidFill>
            <a:srgbClr val="FFE8C1"/>
          </a:solidFill>
          <a:ln w="12700">
            <a:solidFill>
              <a:srgbClr val="EFE3D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62656" y="2432304"/>
            <a:ext cx="120700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4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cream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4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398264" y="1600200"/>
            <a:ext cx="749808" cy="749808"/>
          </a:xfrm>
          <a:prstGeom prst="ellipse">
            <a:avLst/>
          </a:prstGeom>
          <a:solidFill>
            <a:srgbClr val="20C55E"/>
          </a:solidFill>
          <a:ln w="12700">
            <a:solidFill>
              <a:srgbClr val="EFE3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69664" y="2432304"/>
            <a:ext cx="120700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4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=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4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· mutual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605272" y="1600200"/>
            <a:ext cx="749808" cy="749808"/>
          </a:xfrm>
          <a:prstGeom prst="ellipse">
            <a:avLst/>
          </a:prstGeom>
          <a:solidFill>
            <a:srgbClr val="3A2410"/>
          </a:solidFill>
          <a:ln w="12700">
            <a:solidFill>
              <a:srgbClr val="EFE3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376672" y="2432304"/>
            <a:ext cx="120700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4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 brown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4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ink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713232" y="3383280"/>
            <a:ext cx="640080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5A3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Loud thresholds, calm baseline — a color wave blooms from your fingertip at exactly five moments (enter queue, match, mutual yes, “we met,” clean close). Everything else stays quiet.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5A3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arrivals, instant feedback — screens settle in reading order like walking into a room; every press answers in under 120ms.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5A3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Warm, round, unhurried — cream surfaces, pill buttons, springs with barely any bounce. Celebration is one green wave, never confetti.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772400" y="777240"/>
            <a:ext cx="2492932" cy="5394960"/>
          </a:xfrm>
          <a:prstGeom prst="roundRect">
            <a:avLst>
              <a:gd name="adj" fmla="val 3301"/>
            </a:avLst>
          </a:prstGeom>
          <a:solidFill>
            <a:srgbClr val="FFFFFF"/>
          </a:solidFill>
          <a:ln w="12700">
            <a:solidFill>
              <a:srgbClr val="E8DCC9"/>
            </a:solidFill>
            <a:prstDash val="solid"/>
          </a:ln>
          <a:effectLst>
            <a:outerShdw sx="100000" sy="100000" kx="0" ky="0" algn="bl" rotWithShape="0" blurRad="177800" dist="63500" dir="5400000">
              <a:srgbClr val="5A3418">
                <a:alpha val="28000"/>
              </a:srgbClr>
            </a:outerShdw>
          </a:effectLst>
        </p:spPr>
      </p:sp>
      <p:pic>
        <p:nvPicPr>
          <p:cNvPr id="15" name="Image 0" descr="/Users/pauljeon/Downloads/assets/iso-prototype/slides/shots/01-splas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3548" y="818388"/>
            <a:ext cx="2410636" cy="5312664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10104120" y="777240"/>
            <a:ext cx="2492932" cy="5394960"/>
          </a:xfrm>
          <a:prstGeom prst="roundRect">
            <a:avLst>
              <a:gd name="adj" fmla="val 3301"/>
            </a:avLst>
          </a:prstGeom>
          <a:solidFill>
            <a:srgbClr val="FFFFFF"/>
          </a:solidFill>
          <a:ln w="12700">
            <a:solidFill>
              <a:srgbClr val="E8DCC9"/>
            </a:solidFill>
            <a:prstDash val="solid"/>
          </a:ln>
          <a:effectLst>
            <a:outerShdw sx="100000" sy="100000" kx="0" ky="0" algn="bl" rotWithShape="0" blurRad="177800" dist="63500" dir="5400000">
              <a:srgbClr val="5A3418">
                <a:alpha val="28000"/>
              </a:srgbClr>
            </a:outerShdw>
          </a:effectLst>
        </p:spPr>
      </p:sp>
      <p:pic>
        <p:nvPicPr>
          <p:cNvPr id="17" name="Image 1" descr="/Users/pauljeon/Downloads/assets/iso-prototype/slides/shots/09-profile-bent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5268" y="818388"/>
            <a:ext cx="2410636" cy="53126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auljeon/Downloads/assets/iso-prototype/slides/assets/iso-mark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4336" y="960120"/>
            <a:ext cx="2240280" cy="12893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423160" y="2514600"/>
            <a:ext cx="7315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it yourself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2651760" y="3474720"/>
            <a:ext cx="6885432" cy="713232"/>
          </a:xfrm>
          <a:prstGeom prst="roundRect">
            <a:avLst>
              <a:gd name="adj" fmla="val 12821"/>
            </a:avLst>
          </a:prstGeom>
          <a:solidFill>
            <a:srgbClr val="FFFFFF">
              <a:alpha val="88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2926080" y="3547872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3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709160" y="3547872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3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interactive prototype runs in any browser — phone-sized, no install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2651760" y="4315968"/>
            <a:ext cx="6885432" cy="713232"/>
          </a:xfrm>
          <a:prstGeom prst="roundRect">
            <a:avLst>
              <a:gd name="adj" fmla="val 12821"/>
            </a:avLst>
          </a:prstGeom>
          <a:solidFill>
            <a:srgbClr val="FFFFFF">
              <a:alpha val="88000"/>
            </a:srgbClr>
          </a:solidFill>
          <a:ln/>
        </p:spPr>
      </p:sp>
      <p:sp>
        <p:nvSpPr>
          <p:cNvPr id="8" name="Text 5"/>
          <p:cNvSpPr/>
          <p:nvPr/>
        </p:nvSpPr>
        <p:spPr>
          <a:xfrm>
            <a:off x="2926080" y="4389120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3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+ docs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709160" y="438912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3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github.com/pjeon18/iso-prototype — PRD, build spec, design document, validation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2651760" y="5157216"/>
            <a:ext cx="6885432" cy="713232"/>
          </a:xfrm>
          <a:prstGeom prst="roundRect">
            <a:avLst>
              <a:gd name="adj" fmla="val 12821"/>
            </a:avLst>
          </a:prstGeom>
          <a:solidFill>
            <a:srgbClr val="FFFFFF">
              <a:alpha val="88000"/>
            </a:srgbClr>
          </a:solidFill>
          <a:ln/>
        </p:spPr>
      </p:sp>
      <p:sp>
        <p:nvSpPr>
          <p:cNvPr id="11" name="Text 8"/>
          <p:cNvSpPr/>
          <p:nvPr/>
        </p:nvSpPr>
        <p:spPr>
          <a:xfrm>
            <a:off x="2926080" y="5230368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3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controls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4709160" y="5230368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3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?debug to the URL: force matches, pick personas, trigger revival, skip onboarding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2423160" y="63093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conversation at a time 🧡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ISO — one conversation at a time</dc:title>
  <dc:subject>PptxGenJS Presentation</dc:subject>
  <dc:creator>Paul Jeon</dc:creator>
  <cp:lastModifiedBy>Paul Jeon</cp:lastModifiedBy>
  <cp:revision>1</cp:revision>
  <dcterms:created xsi:type="dcterms:W3CDTF">2026-07-06T19:23:47Z</dcterms:created>
  <dcterms:modified xsi:type="dcterms:W3CDTF">2026-07-06T19:23:47Z</dcterms:modified>
</cp:coreProperties>
</file>