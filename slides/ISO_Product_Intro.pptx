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 is a dating app built around one enforced constraint: you can have exactly one live conversation at a time. This deck walks the product and the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category's symptoms — rosters, ghosting, burnout — are downstream of a business model that sells optionality. That's the opening.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product in one sentence. The screenshot is the home screen: a live count and a single CTA — there is nothing to browse.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screens, one loop. Liquidity is concentrated with prime-time queue windows on a single campus at 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timer was the riskiest design element — it must create presence without feeling like a countdown bomb. Zero-penalty expiry, second-lapse framing.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scariest moment in any dating product is the decision. The simultaneous sealed reveal removes rejection asymmetry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outcome loop is self-reported and private. It's the truth signal for everything else — the trend, the recap, revival eligibility.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reflective surface was designed so it structurally cannot become a roster: read-only, single-slot, blind, decaying.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motion system is tokenized — four named springs, five wave registers — so the app feels crafted, not generated. Full rationale lives in the design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resolve once the repo is public: the live demo deploys via GitHub Pages from the same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auljeon/Downloads/assets/iso-prototype/slides/assets/iso-mar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1554480"/>
            <a:ext cx="3255264" cy="1874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2316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time for a </a:t>
            </a:r>
            <a:pPr algn="ctr" indent="0" marL="0">
              <a:buNone/>
            </a:pPr>
            <a:r>
              <a:rPr lang="en-US" sz="2400" b="1" dirty="0">
                <a:solidFill>
                  <a:srgbClr val="27E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one-on-one.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42316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— Intimate Setting Online · an interactive product prototype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242316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 at a time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spc="-50" kern="0" dirty="0">
                <a:solidFill>
                  <a:srgbClr val="3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Dating apps monetize attention — not connection.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85800" y="1783080"/>
            <a:ext cx="5577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75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economics reward infinite options: more matches, more boosts, more time in-app.</a:t>
            </a:r>
            <a:endParaRPr lang="en-US" sz="175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75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end up managing a roster of lukewarm “talking stages” — a part-time job nobody signed up for.</a:t>
            </a:r>
            <a:endParaRPr lang="en-US" sz="175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75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Ghosting is normalized. Everyone feels disposable. Burnout drives people off the apps entirely.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incumbent business model can't fix this — optionality is the revenue.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720840" y="1417320"/>
            <a:ext cx="4754880" cy="137160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2700">
            <a:solidFill>
              <a:srgbClr val="EFE3D0"/>
            </a:solidFill>
            <a:prstDash val="solid"/>
          </a:ln>
          <a:effectLst>
            <a:outerShdw sx="100000" sy="100000" kx="0" ky="0" algn="bl" rotWithShape="0" blurRad="177800" dist="63500" dir="5400000">
              <a:srgbClr val="5A341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0" y="1581912"/>
            <a:ext cx="1691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0" y="1581912"/>
            <a:ext cx="26974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U.S. college students aren't on any dating app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720840" y="2990088"/>
            <a:ext cx="4754880" cy="137160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2700">
            <a:solidFill>
              <a:srgbClr val="EFE3D0"/>
            </a:solidFill>
            <a:prstDash val="solid"/>
          </a:ln>
          <a:effectLst>
            <a:outerShdw sx="100000" sy="100000" kx="0" ky="0" algn="bl" rotWithShape="0" blurRad="177800" dist="63500" dir="5400000">
              <a:srgbClr val="5A341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9440" y="3154680"/>
            <a:ext cx="1691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686800" y="3154680"/>
            <a:ext cx="26974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Gen Z feel burned out by dating apps — the highest of any age group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20840" y="4562856"/>
            <a:ext cx="4754880" cy="137160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2700">
            <a:solidFill>
              <a:srgbClr val="EFE3D0"/>
            </a:solidFill>
            <a:prstDash val="solid"/>
          </a:ln>
          <a:effectLst>
            <a:outerShdw sx="100000" sy="100000" kx="0" ky="0" algn="bl" rotWithShape="0" blurRad="177800" dist="63500" dir="5400000">
              <a:srgbClr val="5A341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49440" y="4727448"/>
            <a:ext cx="1691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686800" y="4727448"/>
            <a:ext cx="26974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Gen Z say they'd rather meet someone offline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20840" y="62636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Axios · Forbes Health 2025 · Kinsey / DatingAdvice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conversation at a time.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78308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3232" y="288036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like joining a game. Get matched live with one present person. Talk in a real-time room.</a:t>
            </a:r>
            <a:endParaRPr lang="en-US" sz="170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continues if both of you say yes — otherwise it closes kindly and you're back in the queue.</a:t>
            </a:r>
            <a:endParaRPr lang="en-US" sz="170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Exclusivity is a mechanic, not a promise: with an active chat you literally cannot queue for another.</a:t>
            </a:r>
            <a:endParaRPr lang="en-US" sz="170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700" b="1" dirty="0">
                <a:solidFill>
                  <a:srgbClr val="3A2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inbox. No roster. No feed. Three tabs, forever.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549640" y="640080"/>
            <a:ext cx="2577438" cy="5577840"/>
          </a:xfrm>
          <a:prstGeom prst="roundRect">
            <a:avLst>
              <a:gd name="adj" fmla="val 3193"/>
            </a:avLst>
          </a:prstGeom>
          <a:solidFill>
            <a:srgbClr val="FFFFFF"/>
          </a:solidFill>
          <a:ln w="12700">
            <a:solidFill>
              <a:srgbClr val="E8DCC9"/>
            </a:solidFill>
            <a:prstDash val="solid"/>
          </a:ln>
          <a:effectLst>
            <a:outerShdw sx="100000" sy="100000" kx="0" ky="0" algn="bl" rotWithShape="0" blurRad="177800" dist="63500" dir="5400000">
              <a:srgbClr val="5A3418">
                <a:alpha val="28000"/>
              </a:srgbClr>
            </a:outerShdw>
          </a:effectLst>
        </p:spPr>
      </p:sp>
      <p:pic>
        <p:nvPicPr>
          <p:cNvPr id="6" name="Image 0" descr="/Users/pauljeon/Downloads/assets/iso-prototype/slides/shots/02-queue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0788" y="681228"/>
            <a:ext cx="2495142" cy="54955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spc="-50" kern="0" dirty="0">
                <a:solidFill>
                  <a:srgbClr val="3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loop: show up → meet → talk → decide together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978278" y="1554480"/>
            <a:ext cx="1838009" cy="397764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12700">
            <a:solidFill>
              <a:srgbClr val="E8DCC9"/>
            </a:solidFill>
            <a:prstDash val="solid"/>
          </a:ln>
          <a:effectLst>
            <a:outerShdw sx="100000" sy="100000" kx="0" ky="0" algn="bl" rotWithShape="0" blurRad="177800" dist="63500" dir="5400000">
              <a:srgbClr val="5A3418">
                <a:alpha val="28000"/>
              </a:srgbClr>
            </a:outerShdw>
          </a:effectLst>
        </p:spPr>
      </p:sp>
      <p:pic>
        <p:nvPicPr>
          <p:cNvPr id="4" name="Image 0" descr="/Users/pauljeon/Downloads/assets/iso-prototype/slides/shots/03-search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426" y="1595628"/>
            <a:ext cx="1755713" cy="389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5358" y="5605272"/>
            <a:ext cx="284384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up — matched with someone who's here right now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2944303" y="3108960"/>
            <a:ext cx="704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B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776407" y="1554480"/>
            <a:ext cx="1838009" cy="397764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12700">
            <a:solidFill>
              <a:srgbClr val="E8DCC9"/>
            </a:solidFill>
            <a:prstDash val="solid"/>
          </a:ln>
          <a:effectLst>
            <a:outerShdw sx="100000" sy="100000" kx="0" ky="0" algn="bl" rotWithShape="0" blurRad="177800" dist="63500" dir="5400000">
              <a:srgbClr val="5A3418">
                <a:alpha val="28000"/>
              </a:srgbClr>
            </a:outerShdw>
          </a:effectLst>
        </p:spPr>
      </p:sp>
      <p:pic>
        <p:nvPicPr>
          <p:cNvPr id="8" name="Image 1" descr="/Users/pauljeon/Downloads/assets/iso-prototype/slides/shots/04-match-f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555" y="1595628"/>
            <a:ext cx="1755713" cy="38953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73487" y="5605272"/>
            <a:ext cx="284384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match, live — with a shared ice-breaker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742432" y="3108960"/>
            <a:ext cx="704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B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7"/>
          <p:cNvSpPr/>
          <p:nvPr/>
        </p:nvSpPr>
        <p:spPr>
          <a:xfrm>
            <a:off x="6574536" y="1554480"/>
            <a:ext cx="1838009" cy="397764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12700">
            <a:solidFill>
              <a:srgbClr val="E8DCC9"/>
            </a:solidFill>
            <a:prstDash val="solid"/>
          </a:ln>
          <a:effectLst>
            <a:outerShdw sx="100000" sy="100000" kx="0" ky="0" algn="bl" rotWithShape="0" blurRad="177800" dist="63500" dir="5400000">
              <a:srgbClr val="5A3418">
                <a:alpha val="28000"/>
              </a:srgbClr>
            </a:outerShdw>
          </a:effectLst>
        </p:spPr>
      </p:sp>
      <p:pic>
        <p:nvPicPr>
          <p:cNvPr id="12" name="Image 2" descr="/Users/pauljeon/Downloads/assets/iso-prototype/slides/shots/05-live-ro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4" y="1595628"/>
            <a:ext cx="1755713" cy="38953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71616" y="5605272"/>
            <a:ext cx="284384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room with a gentle reply timer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8540561" y="3108960"/>
            <a:ext cx="704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B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0"/>
          <p:cNvSpPr/>
          <p:nvPr/>
        </p:nvSpPr>
        <p:spPr>
          <a:xfrm>
            <a:off x="9372665" y="1554480"/>
            <a:ext cx="1838009" cy="397764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12700">
            <a:solidFill>
              <a:srgbClr val="E8DCC9"/>
            </a:solidFill>
            <a:prstDash val="solid"/>
          </a:ln>
          <a:effectLst>
            <a:outerShdw sx="100000" sy="100000" kx="0" ky="0" algn="bl" rotWithShape="0" blurRad="177800" dist="63500" dir="5400000">
              <a:srgbClr val="5A3418">
                <a:alpha val="28000"/>
              </a:srgbClr>
            </a:outerShdw>
          </a:effectLst>
        </p:spPr>
      </p:sp>
      <p:pic>
        <p:nvPicPr>
          <p:cNvPr id="16" name="Image 3" descr="/Users/pauljeon/Downloads/assets/iso-prototype/slides/shots/07-keep-talking-mutu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3813" y="1595628"/>
            <a:ext cx="1755713" cy="38953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869745" y="5605272"/>
            <a:ext cx="284384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continues only if you both say yes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94360"/>
            <a:ext cx="2619691" cy="5669280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2700">
            <a:solidFill>
              <a:srgbClr val="E8DCC9"/>
            </a:solidFill>
            <a:prstDash val="solid"/>
          </a:ln>
          <a:effectLst>
            <a:outerShdw sx="100000" sy="100000" kx="0" ky="0" algn="bl" rotWithShape="0" blurRad="177800" dist="63500" dir="5400000">
              <a:srgbClr val="5A3418">
                <a:alpha val="28000"/>
              </a:srgbClr>
            </a:outerShdw>
          </a:effectLst>
        </p:spPr>
      </p:sp>
      <p:pic>
        <p:nvPicPr>
          <p:cNvPr id="3" name="Image 0" descr="/Users/pauljeon/Downloads/assets/iso-prototype/slides/shots/05-live-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635508"/>
            <a:ext cx="2537395" cy="55869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06240" y="6858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Presence, not pressure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4206240" y="1600200"/>
            <a:ext cx="7315200" cy="1005840"/>
          </a:xfrm>
          <a:prstGeom prst="roundRect">
            <a:avLst>
              <a:gd name="adj" fmla="val 9091"/>
            </a:avLst>
          </a:prstGeom>
          <a:solidFill>
            <a:srgbClr val="FFF9F0"/>
          </a:solidFill>
          <a:ln w="12700">
            <a:solidFill>
              <a:srgbClr val="EFE3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434840" y="170992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shared ice-breaker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434840" y="2020824"/>
            <a:ext cx="6903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people arrive holding the same opener — no “who talks first” freeze, no “hey.”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06240" y="2770632"/>
            <a:ext cx="7315200" cy="1005840"/>
          </a:xfrm>
          <a:prstGeom prst="roundRect">
            <a:avLst>
              <a:gd name="adj" fmla="val 9091"/>
            </a:avLst>
          </a:prstGeom>
          <a:solidFill>
            <a:srgbClr val="FFE8C1"/>
          </a:solidFill>
          <a:ln w="12700">
            <a:solidFill>
              <a:srgbClr val="EFE3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34840" y="288036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gentle reply timer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434840" y="3191256"/>
            <a:ext cx="6903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calm amber bar labeled “presence, not pressure.” At zero, nothing bad happens — just a soft “still there?”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06240" y="3941064"/>
            <a:ext cx="7315200" cy="1005840"/>
          </a:xfrm>
          <a:prstGeom prst="roundRect">
            <a:avLst>
              <a:gd name="adj" fmla="val 9091"/>
            </a:avLst>
          </a:prstGeom>
          <a:solidFill>
            <a:srgbClr val="FFF9F0"/>
          </a:solidFill>
          <a:ln w="12700">
            <a:solidFill>
              <a:srgbClr val="EFE3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34840" y="405079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Silence is read kindly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434840" y="4361688"/>
            <a:ext cx="6903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second lapse suggests deciding: “seems like a natural pause.” Never a penalty, never an abrupt kill.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206240" y="5111496"/>
            <a:ext cx="7315200" cy="1005840"/>
          </a:xfrm>
          <a:prstGeom prst="roundRect">
            <a:avLst>
              <a:gd name="adj" fmla="val 9091"/>
            </a:avLst>
          </a:prstGeom>
          <a:solidFill>
            <a:srgbClr val="FFF9F0"/>
          </a:solidFill>
          <a:ln w="12700">
            <a:solidFill>
              <a:srgbClr val="EFE3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34840" y="52212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side can decide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434840" y="5532120"/>
            <a:ext cx="6903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quiet “feeling ready to decide?” link ends the ambiguity without an eject button.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spc="-50" kern="0" dirty="0">
                <a:solidFill>
                  <a:srgbClr val="3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ever answers second.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0" y="1417320"/>
            <a:ext cx="2176034" cy="4709160"/>
          </a:xfrm>
          <a:prstGeom prst="roundRect">
            <a:avLst>
              <a:gd name="adj" fmla="val 3782"/>
            </a:avLst>
          </a:prstGeom>
          <a:solidFill>
            <a:srgbClr val="FFFFFF"/>
          </a:solidFill>
          <a:ln w="12700">
            <a:solidFill>
              <a:srgbClr val="E8DCC9"/>
            </a:solidFill>
            <a:prstDash val="solid"/>
          </a:ln>
          <a:effectLst>
            <a:outerShdw sx="100000" sy="100000" kx="0" ky="0" algn="bl" rotWithShape="0" blurRad="177800" dist="63500" dir="5400000">
              <a:srgbClr val="5A3418">
                <a:alpha val="28000"/>
              </a:srgbClr>
            </a:outerShdw>
          </a:effectLst>
        </p:spPr>
      </p:sp>
      <p:pic>
        <p:nvPicPr>
          <p:cNvPr id="4" name="Image 0" descr="/Users/pauljeon/Downloads/assets/iso-prototype/slides/shots/06-keep-talking-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1948" y="1458468"/>
            <a:ext cx="2093738" cy="46268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97880" y="6199632"/>
            <a:ext cx="318187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stay sealed…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9281160" y="1417320"/>
            <a:ext cx="2176034" cy="4709160"/>
          </a:xfrm>
          <a:prstGeom prst="roundRect">
            <a:avLst>
              <a:gd name="adj" fmla="val 3782"/>
            </a:avLst>
          </a:prstGeom>
          <a:solidFill>
            <a:srgbClr val="FFFFFF"/>
          </a:solidFill>
          <a:ln w="12700">
            <a:solidFill>
              <a:srgbClr val="E8DCC9"/>
            </a:solidFill>
            <a:prstDash val="solid"/>
          </a:ln>
          <a:effectLst>
            <a:outerShdw sx="100000" sy="100000" kx="0" ky="0" algn="bl" rotWithShape="0" blurRad="177800" dist="63500" dir="5400000">
              <a:srgbClr val="5A3418">
                <a:alpha val="28000"/>
              </a:srgbClr>
            </a:outerShdw>
          </a:effectLst>
        </p:spPr>
      </p:sp>
      <p:pic>
        <p:nvPicPr>
          <p:cNvPr id="7" name="Image 1" descr="/Users/pauljeon/Downloads/assets/iso-prototype/slides/shots/07-keep-talking-mutu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2308" y="1458468"/>
            <a:ext cx="2093738" cy="46268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78240" y="6199632"/>
            <a:ext cx="318187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reveal together.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85800" y="1600200"/>
            <a:ext cx="5303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65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conversation reaches a natural point, both people privately answer one question: keep talking?</a:t>
            </a:r>
            <a:endParaRPr lang="en-US" sz="165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65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sealed until both have committed, then revealed simultaneously — nobody performs for the other's visible choice, nobody is rejected in public.</a:t>
            </a:r>
            <a:endParaRPr lang="en-US" sz="165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65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yes → it becomes your one ongoing chat, marked with a restrained green moment.</a:t>
            </a:r>
            <a:endParaRPr lang="en-US" sz="165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65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else → “closed kindly, nothing left behind.” No dead thread. Back to the queue, one tap.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spc="-50" kern="0" dirty="0">
                <a:solidFill>
                  <a:srgbClr val="3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Then: one chat, your whole attention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5943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65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tab holds exactly one connection — full-screen attention on a single person is the product's whole competitive position, rendered literally.</a:t>
            </a:r>
            <a:endParaRPr lang="en-US" sz="165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65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someone new? You end this one first — visibly, deliberately, kindly. The lock is part of the interface.</a:t>
            </a:r>
            <a:endParaRPr lang="en-US" sz="165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65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ISO+ adds momentum tools inside the chat: song requests, photo-of-the-day, a date planner. All pointed off the app.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85800" y="4434840"/>
            <a:ext cx="5943600" cy="1691640"/>
          </a:xfrm>
          <a:prstGeom prst="roundRect">
            <a:avLst>
              <a:gd name="adj" fmla="val 6486"/>
            </a:avLst>
          </a:prstGeom>
          <a:solidFill>
            <a:srgbClr val="EAF7EF"/>
          </a:solidFill>
          <a:ln w="12700">
            <a:solidFill>
              <a:srgbClr val="BFE5CD"/>
            </a:solidFill>
            <a:prstDash val="solid"/>
          </a:ln>
          <a:effectLst>
            <a:outerShdw sx="100000" sy="100000" kx="0" ky="0" algn="bl" rotWithShape="0" blurRad="177800" dist="63500" dir="5400000">
              <a:srgbClr val="5A341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461772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A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metric that matters: “Did you two meet up?”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ISO's North Star is real-life dates initiated — asked once, privately, never nagged. We win when two people leave the app together.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95360" y="640080"/>
            <a:ext cx="2577438" cy="5577840"/>
          </a:xfrm>
          <a:prstGeom prst="roundRect">
            <a:avLst>
              <a:gd name="adj" fmla="val 3193"/>
            </a:avLst>
          </a:prstGeom>
          <a:solidFill>
            <a:srgbClr val="FFFFFF"/>
          </a:solidFill>
          <a:ln w="12700">
            <a:solidFill>
              <a:srgbClr val="E8DCC9"/>
            </a:solidFill>
            <a:prstDash val="solid"/>
          </a:ln>
          <a:effectLst>
            <a:outerShdw sx="100000" sy="100000" kx="0" ky="0" algn="bl" rotWithShape="0" blurRad="177800" dist="63500" dir="5400000">
              <a:srgbClr val="5A3418">
                <a:alpha val="28000"/>
              </a:srgbClr>
            </a:outerShdw>
          </a:effectLst>
        </p:spPr>
      </p:sp>
      <p:pic>
        <p:nvPicPr>
          <p:cNvPr id="7" name="Image 0" descr="/Users/pauljeon/Downloads/assets/iso-prototype/slides/shots/08-one-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6508" y="681228"/>
            <a:ext cx="2495142" cy="54955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spc="-50" kern="0" dirty="0">
                <a:solidFill>
                  <a:srgbClr val="3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it — without rebuilding the roster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1363214" y="1463040"/>
            <a:ext cx="1690123" cy="3657600"/>
          </a:xfrm>
          <a:prstGeom prst="roundRect">
            <a:avLst>
              <a:gd name="adj" fmla="val 4869"/>
            </a:avLst>
          </a:prstGeom>
          <a:solidFill>
            <a:srgbClr val="FFFFFF"/>
          </a:solidFill>
          <a:ln w="12700">
            <a:solidFill>
              <a:srgbClr val="E8DCC9"/>
            </a:solidFill>
            <a:prstDash val="solid"/>
          </a:ln>
          <a:effectLst>
            <a:outerShdw sx="100000" sy="100000" kx="0" ky="0" algn="bl" rotWithShape="0" blurRad="177800" dist="63500" dir="5400000">
              <a:srgbClr val="5A3418">
                <a:alpha val="28000"/>
              </a:srgbClr>
            </a:outerShdw>
          </a:effectLst>
        </p:spPr>
      </p:sp>
      <p:pic>
        <p:nvPicPr>
          <p:cNvPr id="4" name="Image 0" descr="/Users/pauljeon/Downloads/assets/iso-prototype/slides/shots/10-memo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4362" y="1504188"/>
            <a:ext cx="1607827" cy="3575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5196" y="525780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3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Memories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16636" y="5596128"/>
            <a:ext cx="3383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 private journal of mutual conversations. No reply button exists. No unread counts. Wipe your side anytime.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249414" y="1463040"/>
            <a:ext cx="1690123" cy="3657600"/>
          </a:xfrm>
          <a:prstGeom prst="roundRect">
            <a:avLst>
              <a:gd name="adj" fmla="val 4869"/>
            </a:avLst>
          </a:prstGeom>
          <a:solidFill>
            <a:srgbClr val="FFFFFF"/>
          </a:solidFill>
          <a:ln w="12700">
            <a:solidFill>
              <a:srgbClr val="E8DCC9"/>
            </a:solidFill>
            <a:prstDash val="solid"/>
          </a:ln>
          <a:effectLst>
            <a:outerShdw sx="100000" sy="100000" kx="0" ky="0" algn="bl" rotWithShape="0" blurRad="177800" dist="63500" dir="5400000">
              <a:srgbClr val="5A3418">
                <a:alpha val="28000"/>
              </a:srgbClr>
            </a:outerShdw>
          </a:effectLst>
        </p:spPr>
      </p:sp>
      <p:pic>
        <p:nvPicPr>
          <p:cNvPr id="8" name="Image 1" descr="/Users/pauljeon/Downloads/assets/iso-prototype/slides/shots/11-trend-rec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562" y="1504188"/>
            <a:ext cx="1607827" cy="3575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11396" y="525780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3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trend + weekly recap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4402836" y="5596128"/>
            <a:ext cx="3383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gentle, floor-bounded curve of how conversations felt — direction, not scores. It can't crash, and it never ranks people.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9135614" y="1463040"/>
            <a:ext cx="1690123" cy="3657600"/>
          </a:xfrm>
          <a:prstGeom prst="roundRect">
            <a:avLst>
              <a:gd name="adj" fmla="val 4869"/>
            </a:avLst>
          </a:prstGeom>
          <a:solidFill>
            <a:srgbClr val="FFFFFF"/>
          </a:solidFill>
          <a:ln w="12700">
            <a:solidFill>
              <a:srgbClr val="E8DCC9"/>
            </a:solidFill>
            <a:prstDash val="solid"/>
          </a:ln>
          <a:effectLst>
            <a:outerShdw sx="100000" sy="100000" kx="0" ky="0" algn="bl" rotWithShape="0" blurRad="177800" dist="63500" dir="5400000">
              <a:srgbClr val="5A3418">
                <a:alpha val="28000"/>
              </a:srgbClr>
            </a:outerShdw>
          </a:effectLst>
        </p:spPr>
      </p:sp>
      <p:pic>
        <p:nvPicPr>
          <p:cNvPr id="12" name="Image 2" descr="/Users/pauljeon/Downloads/assets/iso-prototype/slides/shots/12-reviv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6762" y="1504188"/>
            <a:ext cx="1607827" cy="3575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97596" y="525780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3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Revival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8289036" y="5596128"/>
            <a:ext cx="3383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private “I'd talk to them again” flag. Blind and double-opt-in: it only surfaces if both flagged, both free. Nobody can be re-rejected.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spc="-50" kern="0" dirty="0">
                <a:solidFill>
                  <a:srgbClr val="3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like getting to know someone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77240" y="1600200"/>
            <a:ext cx="749808" cy="749808"/>
          </a:xfrm>
          <a:prstGeom prst="ellipse">
            <a:avLst/>
          </a:prstGeom>
          <a:solidFill>
            <a:srgbClr val="FF8000"/>
          </a:solidFill>
          <a:ln w="12700">
            <a:solidFill>
              <a:srgbClr val="EFE3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432304"/>
            <a:ext cx="12070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confident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984248" y="1600200"/>
            <a:ext cx="749808" cy="749808"/>
          </a:xfrm>
          <a:prstGeom prst="ellipse">
            <a:avLst/>
          </a:prstGeom>
          <a:solidFill>
            <a:srgbClr val="F8BD62"/>
          </a:solidFill>
          <a:ln w="12700">
            <a:solidFill>
              <a:srgbClr val="EFE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55648" y="2432304"/>
            <a:ext cx="12070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amber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ambience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191256" y="1600200"/>
            <a:ext cx="749808" cy="749808"/>
          </a:xfrm>
          <a:prstGeom prst="ellipse">
            <a:avLst/>
          </a:prstGeom>
          <a:solidFill>
            <a:srgbClr val="FFE8C1"/>
          </a:solidFill>
          <a:ln w="12700">
            <a:solidFill>
              <a:srgbClr val="EFE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2656" y="2432304"/>
            <a:ext cx="12070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98264" y="1600200"/>
            <a:ext cx="749808" cy="749808"/>
          </a:xfrm>
          <a:prstGeom prst="ellipse">
            <a:avLst/>
          </a:prstGeom>
          <a:solidFill>
            <a:srgbClr val="20C55E"/>
          </a:solidFill>
          <a:ln w="12700">
            <a:solidFill>
              <a:srgbClr val="EFE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9664" y="2432304"/>
            <a:ext cx="12070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· mutual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05272" y="1600200"/>
            <a:ext cx="749808" cy="749808"/>
          </a:xfrm>
          <a:prstGeom prst="ellipse">
            <a:avLst/>
          </a:prstGeom>
          <a:solidFill>
            <a:srgbClr val="3A2410"/>
          </a:solidFill>
          <a:ln w="12700">
            <a:solidFill>
              <a:srgbClr val="EFE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76672" y="2432304"/>
            <a:ext cx="12070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brown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13232" y="3383280"/>
            <a:ext cx="6720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 thresholds, calm baseline — a color wave blooms from your fingertip at exactly five moments (enter queue, match, mutual yes, “we met,” clean close). Everything else stays quiet.</a:t>
            </a:r>
            <a:endParaRPr lang="en-US" sz="150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arrivals, instant feedback — screens settle in reading order like walking into a room; every press answers in under 120ms.</a:t>
            </a:r>
            <a:endParaRPr lang="en-US" sz="150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round, unhurried — cream surfaces, pill buttons, springs with barely any bounce. Celebration is one green wave, never confetti.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818120" y="1508760"/>
            <a:ext cx="1943642" cy="4206240"/>
          </a:xfrm>
          <a:prstGeom prst="roundRect">
            <a:avLst>
              <a:gd name="adj" fmla="val 4234"/>
            </a:avLst>
          </a:prstGeom>
          <a:solidFill>
            <a:srgbClr val="FFFFFF"/>
          </a:solidFill>
          <a:ln w="12700">
            <a:solidFill>
              <a:srgbClr val="E8DCC9"/>
            </a:solidFill>
            <a:prstDash val="solid"/>
          </a:ln>
          <a:effectLst>
            <a:outerShdw sx="100000" sy="100000" kx="0" ky="0" algn="bl" rotWithShape="0" blurRad="177800" dist="63500" dir="5400000">
              <a:srgbClr val="5A3418">
                <a:alpha val="28000"/>
              </a:srgbClr>
            </a:outerShdw>
          </a:effectLst>
        </p:spPr>
      </p:sp>
      <p:pic>
        <p:nvPicPr>
          <p:cNvPr id="15" name="Image 0" descr="/Users/pauljeon/Downloads/assets/iso-prototype/slides/shots/01-spl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9268" y="1549908"/>
            <a:ext cx="1861346" cy="412394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9921240" y="1508760"/>
            <a:ext cx="1943642" cy="4206240"/>
          </a:xfrm>
          <a:prstGeom prst="roundRect">
            <a:avLst>
              <a:gd name="adj" fmla="val 4234"/>
            </a:avLst>
          </a:prstGeom>
          <a:solidFill>
            <a:srgbClr val="FFFFFF"/>
          </a:solidFill>
          <a:ln w="12700">
            <a:solidFill>
              <a:srgbClr val="E8DCC9"/>
            </a:solidFill>
            <a:prstDash val="solid"/>
          </a:ln>
          <a:effectLst>
            <a:outerShdw sx="100000" sy="100000" kx="0" ky="0" algn="bl" rotWithShape="0" blurRad="177800" dist="63500" dir="5400000">
              <a:srgbClr val="5A3418">
                <a:alpha val="28000"/>
              </a:srgbClr>
            </a:outerShdw>
          </a:effectLst>
        </p:spPr>
      </p:sp>
      <p:pic>
        <p:nvPicPr>
          <p:cNvPr id="17" name="Image 1" descr="/Users/pauljeon/Downloads/assets/iso-prototype/slides/shots/09-profile-ben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2388" y="1549908"/>
            <a:ext cx="1861346" cy="41239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auljeon/Downloads/assets/iso-prototype/slides/assets/iso-mar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960120"/>
            <a:ext cx="2240280" cy="12893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23160" y="25146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yourself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2651760" y="3474720"/>
            <a:ext cx="6885432" cy="713232"/>
          </a:xfrm>
          <a:prstGeom prst="roundRect">
            <a:avLst>
              <a:gd name="adj" fmla="val 12821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2926080" y="354787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09160" y="354787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pjeon18.github.io/iso-prototype — runs in any browser, no install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651760" y="4315968"/>
            <a:ext cx="6885432" cy="713232"/>
          </a:xfrm>
          <a:prstGeom prst="roundRect">
            <a:avLst>
              <a:gd name="adj" fmla="val 12821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926080" y="43891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+ docs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09160" y="43891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github.com/pjeon18/iso-prototype — PRD, build spec, design document, validation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651760" y="5157216"/>
            <a:ext cx="6885432" cy="713232"/>
          </a:xfrm>
          <a:prstGeom prst="roundRect">
            <a:avLst>
              <a:gd name="adj" fmla="val 12821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926080" y="52303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controls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09160" y="523036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?debug to the URL: force matches, pick personas, trigger revival, skip onboarding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42316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 at a time 🧡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 — one conversation at a time</dc:title>
  <dc:subject>PptxGenJS Presentation</dc:subject>
  <dc:creator>Paul Jeon</dc:creator>
  <cp:lastModifiedBy>Paul Jeon</cp:lastModifiedBy>
  <cp:revision>1</cp:revision>
  <dcterms:created xsi:type="dcterms:W3CDTF">2026-07-06T19:54:50Z</dcterms:created>
  <dcterms:modified xsi:type="dcterms:W3CDTF">2026-07-06T19:54:50Z</dcterms:modified>
</cp:coreProperties>
</file>